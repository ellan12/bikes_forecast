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65A82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65A82"/>
                </a:solidFill>
                <a:latin typeface="Arial"/>
              </a:rPr>
              <a:t>AutoARIMA vs. Naive Baseline (MASE,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AutoARIMA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category_1</c:v>
                  </c:pt>
                  <c:pt idx="1">
                    <c:v>category_2</c:v>
                  </c:pt>
                  <c:pt idx="2">
                    <c:v>bikeshop_name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0.452</c:v>
                </c:pt>
                <c:pt idx="1">
                  <c:v>0.5705</c:v>
                </c:pt>
                <c:pt idx="2">
                  <c:v>0.7855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Naive Baseline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category_1</c:v>
                  </c:pt>
                  <c:pt idx="1">
                    <c:v>category_2</c:v>
                  </c:pt>
                  <c:pt idx="2">
                    <c:v>bikeshop_name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 Sales Forecasting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 Analysis &amp; Q1 2025 Forecast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594360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Project</a:t>
            </a:r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Ella Ndalla  |  June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Cloud Run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1005840"/>
            <a:ext cx="406908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 bicycle manufacturer distributes bikes nationwide to 93 bike shops across the continental US.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full-year 2020–2024 sales performance and generate accurate Q1 2025 revenue forecasts.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Questions: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bike categories drive the most revenue?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shops are top performers?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forecasting model performs best?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690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6320" y="1600200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46320" y="1600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26364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Products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2404872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46320" y="240487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263640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Shops Nationwide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46320" y="3209544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46320" y="3209544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63640" y="320954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Lines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014216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46320" y="4014216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401421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Historical Sales Data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(PK)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 records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Orderlines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291840" y="1417320"/>
            <a:ext cx="256032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 (PK)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8328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8328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(FK)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320040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004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(FK)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 records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217920" y="1417320"/>
            <a:ext cx="25603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(PK)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bikeshop_name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0936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0936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records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5216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4160520"/>
            <a:ext cx="8412480" cy="685800"/>
          </a:xfrm>
          <a:prstGeom prst="rect">
            <a:avLst/>
          </a:prstGeom>
          <a:solidFill>
            <a:srgbClr val="FFF8E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160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Automation: 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and cleaning is fully automated via the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collect_data()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 in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including date parsing, feature splitting (category, frame), and SQLite queries.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CRISP-DM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960120"/>
            <a:ext cx="269748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9319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Business Understanding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Q4 2024 bike sales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categories &amp; shops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performance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46120" y="960120"/>
            <a:ext cx="26974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1927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Understanding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927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on 3 interconnected tables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reports generated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patterns explored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72200" y="960120"/>
            <a:ext cx="2697480" cy="384048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4535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 Preparation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4535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location feature splitting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&amp; frame extraction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20040" y="2926080"/>
            <a:ext cx="2697480" cy="384048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9319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AutoARIMA: univariate time series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multivariate deep learning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lightweight architecture (LSTM(32) + Dense(30))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246120" y="2926080"/>
            <a:ext cx="2697480" cy="3840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31927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1927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(primary) — scale-free, baseline-anchored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&amp; RMSE per model on same holdout window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excluded — explodes near zero-value actuals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72200" y="2926080"/>
            <a:ext cx="2697480" cy="384048"/>
          </a:xfrm>
          <a:prstGeom prst="rect">
            <a:avLst/>
          </a:prstGeom>
          <a:solidFill>
            <a:srgbClr val="CC7722"/>
          </a:solidFill>
          <a:ln w="12700">
            <a:solidFill>
              <a:srgbClr val="CC772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24535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Deployment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4535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deployed on Google Cloud Run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predictions committed to 04_outputs/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 saved (.h5)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914400"/>
            <a:ext cx="397764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Time Series Forecasting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selects optimal ARIMA order (p, d, q)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&amp; summarized time-series data per shop/category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smooth, conservative forecast lines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stable, interpretable forecasts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$34,688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632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46320" y="914400"/>
            <a:ext cx="397764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3776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Deep Learning Forecasting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Input(3, 30) → LSTM(32) → Dense(30)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9,054 trainable parameters — lightweight, fast convergence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(patience=5); no Keras Tuner — fixed architecture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not a runtime dep — predictions pre-computed &amp; committed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$31,981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457200" y="960000"/>
          <a:ext cx="5029200" cy="36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00000"/>
                <a:gridCol w="1109400"/>
                <a:gridCol w="1109400"/>
                <a:gridCol w="1110400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MAE (avg)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RMSE (avg)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MASE (avg)</a:t>
                      </a:r>
                    </a:p>
                  </a:txBody>
                  <a:tcPr>
                    <a:solidFill>
                      <a:srgbClr val="065A82"/>
                    </a:solidFill>
                  </a:tcPr>
                </a:tc>
              </a:tr>
              <a:tr h="86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🏆 LSTM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$31,981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$38,165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0.703 ✓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</a:tr>
              <a:tr h="86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065A82"/>
                          </a:solidFill>
                          <a:latin typeface="Calibri"/>
                        </a:rPr>
                        <a:t>AutoARIMA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/>
                        </a:rPr>
                        <a:t>$34,688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/>
                        </a:rPr>
                        <a:t>$39,689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/>
                        </a:rPr>
                        <a:t>0.778 ✓</a:t>
                      </a:r>
                    </a:p>
                  </a:txBody>
                  <a:tcPr>
                    <a:solidFill>
                      <a:srgbClr val="E8F4F8"/>
                    </a:solidFill>
                  </a:tcPr>
                </a:tc>
              </a:tr>
              <a:tr h="86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4A5568"/>
                          </a:solidFill>
                          <a:latin typeface="Calibri"/>
                        </a:rPr>
                        <a:t>Naïve Baseline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4A5568"/>
                          </a:solidFill>
                          <a:latin typeface="Calibri"/>
                        </a:rPr>
                        <a:t>$26,612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4A5568"/>
                          </a:solidFill>
                          <a:latin typeface="Calibri"/>
                        </a:rPr>
                        <a:t>$36,551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4A5568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60000"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i="1" dirty="0">
                          <a:solidFill>
                            <a:srgbClr val="4A5568"/>
                          </a:solidFill>
                          <a:latin typeface="Calibri"/>
                        </a:rPr>
                        <a:t>MASE &lt; 1 beats naïve baseline. MAPE excluded — near-zero monthly sales cause division-by-zero distortion. Holdout: last 3 months, 30 bikeshops.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914400"/>
            <a:ext cx="3063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760720" y="914400"/>
            <a:ext cx="3063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852160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Beat Naïve — LSTM Wins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52160" y="146304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AutoARIMA (MASE 0.778) and LSTM (MASE 0.703) beat the naïve baseline on a true 3-month holdout across all 30 bikeshops. LSTM achieves lower MAE ($31,981 vs $34,688) and lower RMSE ($38,165 vs $39,689).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2514600"/>
            <a:ext cx="306324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760720" y="2514600"/>
            <a:ext cx="306324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85216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Differences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3017520"/>
            <a:ext cx="2834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best overall — lower MAE, RMSE, and MASE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preferred over MAPE — MAPE explodes when actuals are near zero (e.g. bikeshop-level)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Naïve MASE = 1.0 by definition — all models scored against same holdout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advantage: per-series CI bands, no GPU needed, interpretable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F1C"/>
          </a:solidFill>
          <a:ln w="12700">
            <a:solidFill>
              <a:srgbClr val="0A0F1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1097280"/>
            <a:ext cx="594360" cy="5943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6304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Top-Selling Category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20574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selling category nationwide, outperforming Road and other bike types consistently across all quarters.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470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74820" y="1097280"/>
            <a:ext cx="594360" cy="5943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27482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614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Top-Performing Shop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43300" y="2423160"/>
            <a:ext cx="205740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is the highest-grossing bike shop in the network, serving as a key revenue driver for the manufacturer.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086600" y="1097280"/>
            <a:ext cx="594360" cy="59436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08660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Accuracy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55080" y="2423160"/>
            <a:ext cx="2057400" cy="0"/>
          </a:xfrm>
          <a:prstGeom prst="line">
            <a:avLst/>
          </a:prstGeom>
          <a:noFill/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beat the naïve baseline. LSTM wins overall (MASE 0.703 vs 0.778). AutoARIMA adds value through per-series 95% CI bands and interpretable trends. MAPE excluded — MASE is the correct metric for sparse bikeshop data.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 &amp; Key Components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657600" cy="39319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" y="960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Directory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00_data_raw/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synthetic dataset files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892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02_SRC/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396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 source: database.py, forecasting.py, runners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Bikes_Sales_Forecast_Presentation.pptx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6151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slide deck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843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04_outputs/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0906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 (.h5), LSTM predictions (.pkl), comparison CSV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3192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01_database/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5661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 (bike_orders_database.sqlite)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requirements.txt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0416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runtime deps (no TensorFlow)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42702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README.md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5171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documentation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43400" y="91440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343400" y="914400"/>
            <a:ext cx="64008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498848" y="987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131673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 — data collection, cleaning, and SQLite queries via collect_data()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192024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343400" y="192024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498848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forecasting.py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98848" y="2322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modeling/evaluation logic, plus naive-baseline and MASE scoring (compare_arima_lstm)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43400" y="292608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343400" y="2926080"/>
            <a:ext cx="64008" cy="868680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498848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Arima_forecasting.py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98848" y="33284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AutoARIMA pipeline using shared functions imported from forecasting.py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43400" y="393192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343400" y="3931920"/>
            <a:ext cx="64008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498848" y="40050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Multivariate_forecasting.py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98848" y="43342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training, then scores ARIMA/LSTM/naive together via compare_arima_lstm()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revenue driver nationwide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leads all bike shops in sales volume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wins (MASE 0.703); AutoARIMA close behind (MASE 0.778) — both beat naïve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valuable for per-series CI bands without GPU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MASE, not MAPE, is the trustworthy metric — MAPE explodes near zero-value actuals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factors (weather, promotions, seasonality)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regional cluster forecasting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with Transformer / Prophet models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dashboard with real-time data ingestion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retraining pipeline for real-time updates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402336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App on Cloud Run: </a:t>
            </a:r>
            <a:pPr algn="l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https://bikes-forecast-6trxjbynbq-uc.a.run.app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Bikes Sales Forecasting</dc:title>
  <dc:subject>PptxGenJS Presentation</dc:subject>
  <dc:creator>Ella Ndalla</dc:creator>
  <cp:lastModifiedBy>Ella Ndalla</cp:lastModifiedBy>
  <cp:revision>1</cp:revision>
  <dcterms:created xsi:type="dcterms:W3CDTF">2026-03-17T14:26:03Z</dcterms:created>
  <dcterms:modified xsi:type="dcterms:W3CDTF">2026-03-17T14:26:03Z</dcterms:modified>
</cp:coreProperties>
</file>