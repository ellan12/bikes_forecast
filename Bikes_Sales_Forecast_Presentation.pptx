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65A82"/>
                </a:solidFill>
                <a:latin typeface="Arial"/>
              </a:defRPr>
            </a:pPr>
            <a:r>
              <a:rPr sz="1400" b="0" i="0" u="none" strike="noStrike">
                <a:solidFill>
                  <a:srgbClr val="065A82"/>
                </a:solidFill>
                <a:latin typeface="Arial"/>
              </a:rPr>
              <a:t>Error Metrics by Model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AutoARIMA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MAPE / MAE</c:v>
                  </c:pt>
                  <c:pt idx="1">
                    <c:v>MSPE / MSE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0.2458</c:v>
                </c:pt>
                <c:pt idx="1">
                  <c:v>0.0902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LSTM</c:v>
                </c:pt>
              </c:strCache>
            </c:strRef>
          </c:tx>
          <c:spPr>
            <a:solidFill>
              <a:srgbClr val="02C3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MAPE / MAE</c:v>
                  </c:pt>
                  <c:pt idx="1">
                    <c:v>MSPE / MSE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0.236</c:v>
                </c:pt>
                <c:pt idx="1">
                  <c:v>0.0904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73152" cy="283464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7772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 Sales Forecasting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Performance Analysis &amp; Q4 2024 Forecast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31520" y="2880360"/>
            <a:ext cx="5943600" cy="0"/>
          </a:xfrm>
          <a:prstGeom prst="line">
            <a:avLst/>
          </a:prstGeom>
          <a:noFill/>
          <a:ln w="19050">
            <a:solidFill>
              <a:srgbClr val="1C729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108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Project</a:t>
            </a:r>
            <a:pPr algn="l"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|  Ella Ndalla  |  March 2026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152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2316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2316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LSTM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11480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11480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0644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0644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498080" y="4023360"/>
            <a:ext cx="1508760" cy="365760"/>
          </a:xfrm>
          <a:prstGeom prst="rect">
            <a:avLst/>
          </a:prstGeom>
          <a:solidFill>
            <a:srgbClr val="065A82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98080" y="4023360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4069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005840"/>
            <a:ext cx="406908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Context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1600200"/>
            <a:ext cx="37947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fictitious bicycle manufacturer distributes bikes nationwide to 93 bike shops across the continental US.
</a:t>
            </a:r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Objective: 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sales performance for Q1–Q3 2024 and generate accurate Q4 2024 forecasts.
</a:t>
            </a:r>
            <a:pPr algn="l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Questions: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bike categories drive the most revenue?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shops are top performers?
</a:t>
            </a:r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Which forecasting model performs best?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754880" y="1005840"/>
            <a:ext cx="4069080" cy="3657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54880" y="1005840"/>
            <a:ext cx="406908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846320" y="10972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at a Glance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846320" y="1600200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46320" y="1600200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4,753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263640" y="16002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Products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846320" y="2404872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404872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6263640" y="2404872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 Shops Nationwide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846320" y="3209544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46320" y="3209544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109,514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6263640" y="3209544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Lines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846320" y="4014216"/>
            <a:ext cx="3840480" cy="68580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4014216"/>
            <a:ext cx="1371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Years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263640" y="4014216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Historical Sales Data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Architecture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6576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1417320"/>
            <a:ext cx="256032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bike_id (PK)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category_1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category_2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2852928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65760" y="3246120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4612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4,753 records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9184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Orderlines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3291840" y="1417320"/>
            <a:ext cx="2560320" cy="2176272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order_id (PK)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38328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328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38328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328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quantity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38328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328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383280" y="2852928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38328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bikeshop_id (FK)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383280" y="3200400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3280" y="320040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bike_id (FK)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291840" y="3593592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91840" y="3593592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109,514 records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17920" y="960120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6217920" y="1417320"/>
            <a:ext cx="2560320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309360" y="146304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bikeshop_id (PK)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6309360" y="1810512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309360" y="1810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bikeshop_name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309360" y="2157984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309360" y="215798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6309360" y="2505456"/>
            <a:ext cx="23774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309360" y="25054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217920" y="2898648"/>
            <a:ext cx="2560320" cy="310896"/>
          </a:xfrm>
          <a:prstGeom prst="rect">
            <a:avLst/>
          </a:prstGeom>
          <a:solidFill>
            <a:srgbClr val="E8F4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17920" y="2898648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 records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926080" y="2103120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52160" y="2103120"/>
            <a:ext cx="502920" cy="0"/>
          </a:xfrm>
          <a:prstGeom prst="line">
            <a:avLst/>
          </a:prstGeom>
          <a:noFill/>
          <a:ln w="25400">
            <a:solidFill>
              <a:srgbClr val="F4A261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4160520"/>
            <a:ext cx="8412480" cy="685800"/>
          </a:xfrm>
          <a:prstGeom prst="rect">
            <a:avLst/>
          </a:prstGeom>
          <a:solidFill>
            <a:srgbClr val="FFF8E7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48640" y="41605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Automation: 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collection and cleaning is fully automated via the </a:t>
            </a:r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collect_data()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function in </a:t>
            </a:r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my_pandas_extensions/database.py</a:t>
            </a:r>
            <a:pPr algn="l"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including date parsing, feature splitting (category, frame), and SQLite queries.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Methodology: CRISP-DM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60120"/>
            <a:ext cx="2697480" cy="384048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9319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Business Understanding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9319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Q4 2024 bike sales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top categories &amp; shops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model performance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246120" y="960120"/>
            <a:ext cx="2697480" cy="38404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1927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Data Understanding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31927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on 3 interconnected tables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reports generated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patterns explored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172200" y="96012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172200" y="960120"/>
            <a:ext cx="2697480" cy="384048"/>
          </a:xfrm>
          <a:prstGeom prst="rect">
            <a:avLst/>
          </a:prstGeom>
          <a:solidFill>
            <a:srgbClr val="1A6B3C"/>
          </a:solidFill>
          <a:ln w="12700">
            <a:solidFill>
              <a:srgbClr val="1A6B3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45352" y="96012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Data Preparation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245352" y="139903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 &amp; location feature splitting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Category &amp; frame extraction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ETL pipeline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2004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926080"/>
            <a:ext cx="2697480" cy="384048"/>
          </a:xfrm>
          <a:prstGeom prst="rect">
            <a:avLst/>
          </a:prstGeom>
          <a:solidFill>
            <a:srgbClr val="7B3F9E"/>
          </a:solidFill>
          <a:ln w="12700">
            <a:solidFill>
              <a:srgbClr val="7B3F9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Modeling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9319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AutoARIMA: univariate time series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multivariate deep learning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Tuner optimization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4612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246120" y="2926080"/>
            <a:ext cx="2697480" cy="384048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31927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Evaluation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31927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 &amp; MSPE for AutoARIMA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 &amp; MSE for LSTM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Cross-model comparison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172200" y="2926080"/>
            <a:ext cx="2697480" cy="1783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72200" y="2926080"/>
            <a:ext cx="2697480" cy="384048"/>
          </a:xfrm>
          <a:prstGeom prst="rect">
            <a:avLst/>
          </a:prstGeom>
          <a:solidFill>
            <a:srgbClr val="CC7722"/>
          </a:solidFill>
          <a:ln w="12700">
            <a:solidFill>
              <a:srgbClr val="CC772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45352" y="2926080"/>
            <a:ext cx="25511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Deployment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45352" y="3364992"/>
            <a:ext cx="2551176" cy="12618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Tableau Public dashboard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Predictions exported to CSV/PKL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 saved (.h5)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Machine Learning Models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97764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914400"/>
            <a:ext cx="3977640" cy="50292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9144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11480" y="1417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Univariate Time Series Forecasting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11480" y="18288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selects optimal ARIMA order (p, d, q)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Aggregated &amp; summarized time-series data per shop/category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Produces smooth, conservative forecast lines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stable, interpretable forecasts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1148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148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0.2458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228600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MSPE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0.0902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846320" y="914400"/>
            <a:ext cx="3977640" cy="3931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846320" y="914400"/>
            <a:ext cx="3977640" cy="50292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37760" y="914400"/>
            <a:ext cx="3794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TensorFlow LSTM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937760" y="141732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 Deep Learning Forecasting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937760" y="182880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1 LSTM (256 units) + 3 Dense layers (80, 16, 11)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889,428 total parameters (296,475 trainable)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Keras Tuner optimized to minimize validation loss</a:t>
            </a:r>
            <a:endParaRPr lang="en-US" sz="1200" dirty="0"/>
          </a:p>
          <a:p>
            <a:pPr algn="l" marL="342900" indent="-342900"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Scaled &amp; split with TensorFlow Datasets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3776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0.2360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6812280" y="3291840"/>
            <a:ext cx="1737360" cy="822960"/>
          </a:xfrm>
          <a:prstGeom prst="rect">
            <a:avLst/>
          </a:prstGeom>
          <a:solidFill>
            <a:srgbClr val="E8F4F8"/>
          </a:solidFill>
          <a:ln w="12700">
            <a:solidFill>
              <a:srgbClr val="E8F4F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12280" y="3291840"/>
            <a:ext cx="1737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MSE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0.0904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Performance Comparison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914400"/>
          <a:ext cx="5029200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5760720" y="914400"/>
            <a:ext cx="3063240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760720" y="914400"/>
            <a:ext cx="3063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0" y="100584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Winner: LSTM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5852160" y="1463040"/>
            <a:ext cx="28346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achieves lower MAE (0.236 vs 0.246) and lower MSE (0.0904 vs 0.0902), demonstrating a slight performance edge.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5760720" y="2514600"/>
            <a:ext cx="3063240" cy="2057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760720" y="2514600"/>
            <a:ext cx="3063240" cy="64008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852160" y="26060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Behavioral Differences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5852160" y="3017520"/>
            <a:ext cx="283464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AutoARIMA: smoother forecast lines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LSTM: more conservative estimates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comparable on small-scale forecasts</a:t>
            </a:r>
            <a:endParaRPr lang="en-US" sz="1100" dirty="0"/>
          </a:p>
          <a:p>
            <a:pPr algn="l"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preferred for complex patterns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A0F1C"/>
          </a:solidFill>
          <a:ln w="12700">
            <a:solidFill>
              <a:srgbClr val="0A0F1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0292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63040" y="1097280"/>
            <a:ext cx="594360" cy="594360"/>
          </a:xfrm>
          <a:prstGeom prst="ellipse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6304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9436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Top-Selling Category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731520" y="2423160"/>
            <a:ext cx="20574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Bikes are the #1 selling category nationwide, outperforming Road and other bike types consistently across all quarters.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31470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74820" y="1097280"/>
            <a:ext cx="594360" cy="59436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27482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0614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Top-Performing Shop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3543300" y="2423160"/>
            <a:ext cx="2057400" cy="0"/>
          </a:xfrm>
          <a:prstGeom prst="line">
            <a:avLst/>
          </a:prstGeom>
          <a:noFill/>
          <a:ln w="12700">
            <a:solidFill>
              <a:srgbClr val="02C39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5186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City 29ers is the highest-grossing bike shop in the network, serving as a key revenue driver for the manufacturer.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1005840"/>
            <a:ext cx="2514600" cy="3794760"/>
          </a:xfrm>
          <a:prstGeom prst="rect">
            <a:avLst/>
          </a:prstGeom>
          <a:solidFill>
            <a:srgbClr val="0D2137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086600" y="1097280"/>
            <a:ext cx="594360" cy="594360"/>
          </a:xfrm>
          <a:prstGeom prst="ellipse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086600" y="1097280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21B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187452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Forecasting Accuracy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6355080" y="2423160"/>
            <a:ext cx="2057400" cy="0"/>
          </a:xfrm>
          <a:prstGeom prst="line">
            <a:avLst/>
          </a:prstGeom>
          <a:noFill/>
          <a:ln w="12700">
            <a:solidFill>
              <a:srgbClr val="F4A26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514600"/>
            <a:ext cx="2240280" cy="2148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show comparable accuracy on smaller figures. LSTM achieves lower error overall; AutoARIMA produces smoother, more interpretable lines.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0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822960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Structure &amp; Key Components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3657600" cy="3931920"/>
          </a:xfrm>
          <a:prstGeom prst="rect">
            <a:avLst/>
          </a:prstGeom>
          <a:solidFill>
            <a:srgbClr val="1E293B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" y="960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Directory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00_data_raw/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6420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synthetic dataset files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02920" y="189280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02_reports/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13969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profile reports (HTML)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23682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03_SRC/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261518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code scripts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02920" y="284378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04_artifacts/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0906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Trained models &amp; predictions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02920" y="331927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📁 05_images/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356616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&amp; charts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37947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requirements.txt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40416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dependencies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427024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DD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📄 README.md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02920" y="451713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documentation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343400" y="91440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343400" y="914400"/>
            <a:ext cx="64008" cy="868680"/>
          </a:xfrm>
          <a:prstGeom prst="rect">
            <a:avLst/>
          </a:prstGeom>
          <a:solidFill>
            <a:srgbClr val="1C7293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98848" y="98755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database.py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98848" y="131673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automation — data collection, cleaning, and SQLite queries via collect_data()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343400" y="192024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343400" y="1920240"/>
            <a:ext cx="64008" cy="868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498848" y="199339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summarize_by_time.py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498848" y="232257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Automates data summarization by group and time period for forecasting prep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4343400" y="292608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343400" y="2926080"/>
            <a:ext cx="64008" cy="868680"/>
          </a:xfrm>
          <a:prstGeom prst="rect">
            <a:avLst/>
          </a:prstGeom>
          <a:solidFill>
            <a:srgbClr val="7B3F9E"/>
          </a:solidFill>
          <a:ln w="12700">
            <a:solidFill>
              <a:srgbClr val="7B3F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98848" y="299923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Arima_forecasting.py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4498848" y="332841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model, evaluation metrics, and forecast combination utilities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343400" y="3931920"/>
            <a:ext cx="4480560" cy="868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343400" y="3931920"/>
            <a:ext cx="64008" cy="868680"/>
          </a:xfrm>
          <a:prstGeom prst="rect">
            <a:avLst/>
          </a:prstGeom>
          <a:solidFill>
            <a:srgbClr val="F4A261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98848" y="4005072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Multivariate_forecast.py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498848" y="4334256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model training, Keras Tuner optimization, and multivariate predictions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21B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2860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 &amp;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8229600" cy="0"/>
          </a:xfrm>
          <a:prstGeom prst="line">
            <a:avLst/>
          </a:prstGeom>
          <a:noFill/>
          <a:ln w="12700">
            <a:solidFill>
              <a:srgbClr val="1C729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15087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Mountain Bikes are the #1 revenue driver nationwide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Kansas City 29ers leads all bike shops in sales volume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LSTM outperforms AutoARIMA with lower MAE (0.236 vs 0.246)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AutoARIMA remains valuable for interpretable, smooth forecasts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models perform comparably on smaller regional forecasts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7548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4A2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754880" y="1508760"/>
            <a:ext cx="39319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Incorporate external factors (weather, promotions, seasonality)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Expand to regional cluster forecasting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 with Transformer / Prophet models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an interactive forecasting dashboard</a:t>
            </a:r>
            <a:endParaRPr lang="en-US" sz="1300" dirty="0"/>
          </a:p>
          <a:p>
            <a:pPr algn="l" marL="342900" indent="-342900">
              <a:buSzPct val="100000"/>
              <a:buChar char="•"/>
            </a:pPr>
            <a:r>
              <a:rPr lang="en-US" sz="13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retraining pipeline for real-time updates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4023360"/>
            <a:ext cx="8229600" cy="685800"/>
          </a:xfrm>
          <a:prstGeom prst="rect">
            <a:avLst/>
          </a:prstGeom>
          <a:solidFill>
            <a:srgbClr val="0D2137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023360"/>
            <a:ext cx="7863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Interactive Dashboard: </a:t>
            </a:r>
            <a:pPr algn="l" indent="0" marL="0">
              <a:buNone/>
            </a:pPr>
            <a:r>
              <a:rPr lang="en-US" sz="1200" dirty="0">
                <a:solidFill>
                  <a:srgbClr val="E8F4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https://public.tableau.com/app/profile/ella.claude/viz/BikesslaesForecast/Story1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Bikes Sales Forecasting</dc:title>
  <dc:subject>PptxGenJS Presentation</dc:subject>
  <dc:creator>Ella Ndalla</dc:creator>
  <cp:lastModifiedBy>Ella Ndalla</cp:lastModifiedBy>
  <cp:revision>1</cp:revision>
  <dcterms:created xsi:type="dcterms:W3CDTF">2026-03-17T14:26:03Z</dcterms:created>
  <dcterms:modified xsi:type="dcterms:W3CDTF">2026-03-17T14:26:03Z</dcterms:modified>
</cp:coreProperties>
</file>